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09728" cy="41148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Natural Monopoly and Systemic Risk</a:t>
            </a:r>
            <a:br/>
            <a:r>
              <a:t>in Automated 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743200" cy="508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4FC3F7"/>
                </a:solidFill>
                <a:latin typeface="Calibri"/>
              </a:defRPr>
            </a:pPr>
            <a:r>
              <a:t>An Applied Analysis of Tuas Mega 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Exploring Market Power, Structural Unemployment, and Systemic Vulnerability in Automated Hub Ports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1828800"/>
            <a:ext cx="2560320" cy="3200400"/>
          </a:xfrm>
          <a:prstGeom prst="rect">
            <a:avLst/>
          </a:prstGeom>
          <a:solidFill>
            <a:srgbClr val="122B4F"/>
          </a:solidFill>
          <a:ln w="2540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009EDB"/>
                </a:solidFill>
                <a:latin typeface="Calibri"/>
              </a:defRPr>
            </a:pPr>
            <a:br/>
            <a:br/>
            <a:r>
              <a:t>TUAS</a:t>
            </a:r>
            <a:br/>
            <a:r>
              <a:t>MEGA</a:t>
            </a:r>
            <a:br/>
            <a:r>
              <a:t>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Abstract &amp;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960120"/>
            <a:ext cx="2286000" cy="508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474720" cy="256032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DB"/>
                </a:solidFill>
                <a:latin typeface="Calibri"/>
              </a:defRPr>
            </a:pPr>
            <a:r>
              <a:t>Research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Explore excess market power in automated ports and the problems it causes: structural unemployment and vulnerability to operational/market shocks.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463040"/>
            <a:ext cx="3474720" cy="256032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DB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0116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Automation boosts productivity but concentrates market power among few operators, leading to job losses and higher systemic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463040"/>
            <a:ext cx="3749039" cy="256032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554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DB"/>
                </a:solidFill>
                <a:latin typeface="Calibri"/>
              </a:defRPr>
            </a:pPr>
            <a:r>
              <a:t>Policy Suggestions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1. Labor transition programs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2. Profit-sharing mechanisms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3. Organization of sub-ports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97680"/>
            <a:ext cx="11247120" cy="228600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00"/>
                </a:solidFill>
                <a:latin typeface="Calibri"/>
              </a:defRPr>
            </a:pPr>
            <a:r>
              <a:t>Paper Outline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937760"/>
            <a:ext cx="411480" cy="4114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892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Problem Definition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166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Market power in automated ports</a:t>
            </a:r>
          </a:p>
        </p:txBody>
      </p:sp>
      <p:sp>
        <p:nvSpPr>
          <p:cNvPr id="20" name="Oval 19"/>
          <p:cNvSpPr/>
          <p:nvPr/>
        </p:nvSpPr>
        <p:spPr>
          <a:xfrm>
            <a:off x="2834640" y="4937760"/>
            <a:ext cx="411480" cy="4114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892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Economic Mechanisms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5166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Scale, lock-in, externalities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0" y="4937760"/>
            <a:ext cx="411480" cy="4114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4892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Case Study: Tuas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5166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Data analysis &amp; risk assessment</a:t>
            </a:r>
          </a:p>
        </p:txBody>
      </p:sp>
      <p:sp>
        <p:nvSpPr>
          <p:cNvPr id="26" name="Oval 25"/>
          <p:cNvSpPr/>
          <p:nvPr/>
        </p:nvSpPr>
        <p:spPr>
          <a:xfrm>
            <a:off x="7223760" y="4937760"/>
            <a:ext cx="411480" cy="4114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80" y="4892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Proposals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80" y="5166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Institutional &amp; national solutions</a:t>
            </a:r>
          </a:p>
        </p:txBody>
      </p:sp>
      <p:sp>
        <p:nvSpPr>
          <p:cNvPr id="29" name="Oval 28"/>
          <p:cNvSpPr/>
          <p:nvPr/>
        </p:nvSpPr>
        <p:spPr>
          <a:xfrm>
            <a:off x="9418320" y="4937760"/>
            <a:ext cx="411480" cy="4114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4892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Critical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5166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Assumptions, trade-offs, conclusion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From Smart Cranes to Smart Monopoly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960120"/>
            <a:ext cx="2286000" cy="508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EDB"/>
                </a:solidFill>
                <a:latin typeface="Calibri"/>
              </a:defRPr>
            </a:pPr>
            <a:r>
              <a:t>The New Era of Port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Advancements in technology have spurred a new era of port automation:</a:t>
            </a:r>
            <a:br/>
            <a:r>
              <a:t>remotely controlled cranes, unmanned AGVs, and centralized digital</a:t>
            </a:r>
            <a:br/>
            <a:r>
              <a:t>systems cooperating with precision.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5029200" cy="27432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00"/>
                </a:solidFill>
                <a:latin typeface="Calibri"/>
              </a:defRPr>
            </a:pPr>
            <a:r>
              <a:t>Tuas Mega Port at a Glance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DB"/>
                </a:solidFill>
                <a:latin typeface="Calibri"/>
              </a:defRPr>
            </a:pPr>
            <a:r>
              <a:t>65M+ TEUs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297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Target throughput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297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DB"/>
                </a:solidFill>
                <a:latin typeface="Calibri"/>
              </a:defRPr>
            </a:pPr>
            <a:r>
              <a:t>2nd Largest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297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Container port globally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DB"/>
                </a:solidFill>
                <a:latin typeface="Calibri"/>
              </a:defRPr>
            </a:pPr>
            <a:r>
              <a:t>1,337 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937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Total land area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937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DB"/>
                </a:solidFill>
                <a:latin typeface="Calibri"/>
              </a:defRPr>
            </a:pPr>
            <a:r>
              <a:t>66 Berths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937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Spanning 26 km of quay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77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DB"/>
                </a:solidFill>
                <a:latin typeface="Calibri"/>
              </a:defRPr>
            </a:pPr>
            <a:r>
              <a:t>2022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577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Operations commenced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577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DB"/>
                </a:solidFill>
                <a:latin typeface="Calibri"/>
              </a:defRPr>
            </a:pPr>
            <a:r>
              <a:t>2040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577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Full completion target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3657600"/>
            <a:ext cx="5760720" cy="274320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374903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3E3E"/>
                </a:solidFill>
                <a:latin typeface="Calibri"/>
              </a:defRPr>
            </a:pPr>
            <a:r>
              <a:t>Concerns Raised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29768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Concentrated market power among few operators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Potential monopolistic actions: price raising,</a:t>
            </a:r>
            <a:br/>
            <a:r>
              <a:t>  output restriction, market access control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Reduced costs create barriers for competitors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400">
                <a:solidFill>
                  <a:srgbClr val="E0E0E0"/>
                </a:solidFill>
                <a:latin typeface="Calibri"/>
              </a:defRPr>
            </a:pPr>
            <a:r>
              <a:t>Risk of single-point-of-failure for global trade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Problem &amp; Stakeholder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960120"/>
            <a:ext cx="2286000" cy="508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9418320" cy="11887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417320"/>
            <a:ext cx="9052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Core Problem: Automation at Tuas Mega Port greatly improves efficiency but creates a natural</a:t>
            </a:r>
            <a:br/>
            <a:r>
              <a:t>monopoly hub, increasing systemic risk for global trade and causing structural unemployment.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2697480" cy="365760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2697480" cy="635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53E3E"/>
                </a:solidFill>
                <a:latin typeface="Calibri"/>
              </a:defRPr>
            </a:pPr>
            <a:r>
              <a:t>Global Trade &amp; Supply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404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Heavy tech reliance creates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297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vulnerability to cyberattacks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7548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Severe market fluctuations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212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from single hub disruption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926080"/>
            <a:ext cx="2697480" cy="365760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2926080"/>
            <a:ext cx="2697480" cy="635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32004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Calibri"/>
              </a:defRPr>
            </a:pPr>
            <a:r>
              <a:t>Neighboring 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8404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Siphon Effect: 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297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drawn to Tuas' efficiency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7548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Matthew Effect: the strong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212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get stronger, weak get weaker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926080"/>
            <a:ext cx="2697480" cy="365760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926080"/>
            <a:ext cx="2697480" cy="635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2004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B700"/>
                </a:solidFill>
                <a:latin typeface="Calibri"/>
              </a:defRPr>
            </a:pPr>
            <a:r>
              <a:t>Port Laborers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8404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Structural unemployment 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297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traditional skill-based jobs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7548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Human roles shift to monitoring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212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from control centers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98280" y="2926080"/>
            <a:ext cx="2697480" cy="365760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98280" y="2926080"/>
            <a:ext cx="2697480" cy="635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32004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EDB"/>
                </a:solidFill>
                <a:latin typeface="Calibri"/>
              </a:defRPr>
            </a:pPr>
            <a:r>
              <a:t>Government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8404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Must mitigate social costs via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42976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retraining programs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47548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Manage technological risks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52120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through mutual coordination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Economies of Scale &amp; Market Power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960120"/>
            <a:ext cx="2286000" cy="508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9EDB"/>
                </a:solidFill>
                <a:latin typeface="Calibri"/>
              </a:defRPr>
            </a:pPr>
            <a:r>
              <a:t>How Natural Monopoly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Even though the initial fixed cost of building an automated port is high,</a:t>
            </a:r>
            <a:br/>
            <a:r>
              <a:t>once built, the extra marginal cost is very low. Operational costs are</a:t>
            </a:r>
            <a:br/>
            <a:r>
              <a:t>reduced by up to 30%, creating a natural monopoly where the average</a:t>
            </a:r>
            <a:br/>
            <a:r>
              <a:t>cost for the dominant port decreases substantially in the long run.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74720"/>
            <a:ext cx="5303520" cy="292608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00"/>
                </a:solidFill>
                <a:latin typeface="Calibri"/>
              </a:defRPr>
            </a:pPr>
            <a:r>
              <a:t>Cost Structure: Automated vs Traditional 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Fixed Cost (Infrastructure)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4224528"/>
            <a:ext cx="2057400" cy="16459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4187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9EDB"/>
                </a:solidFill>
                <a:latin typeface="Calibri"/>
              </a:defRPr>
            </a:pPr>
            <a:r>
              <a:t>Auto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4434840"/>
            <a:ext cx="914400" cy="16459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9080" y="44074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Calibri"/>
              </a:defRPr>
            </a:pPr>
            <a:r>
              <a:t>Trad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92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Marginal Cost per TEU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4910328"/>
            <a:ext cx="457200" cy="16459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48737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9EDB"/>
                </a:solidFill>
                <a:latin typeface="Calibri"/>
              </a:defRPr>
            </a:pPr>
            <a:r>
              <a:t>Auto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5120640"/>
            <a:ext cx="1600200" cy="16459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50932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Calibri"/>
              </a:defRPr>
            </a:pPr>
            <a:r>
              <a:t>Trad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Average Cost at Scale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5596128"/>
            <a:ext cx="685800" cy="16459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55595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9EDB"/>
                </a:solidFill>
                <a:latin typeface="Calibri"/>
              </a:defRPr>
            </a:pPr>
            <a:r>
              <a:t>Auto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5806440"/>
            <a:ext cx="1714500" cy="16459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577900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53E3E"/>
                </a:solidFill>
                <a:latin typeface="Calibri"/>
              </a:defRPr>
            </a:pPr>
            <a:r>
              <a:t>Trad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4630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00"/>
                </a:solidFill>
                <a:latin typeface="Calibri"/>
              </a:defRPr>
            </a:pPr>
            <a:r>
              <a:t>Natural Monopoly Mechanism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2103120"/>
            <a:ext cx="365760" cy="36576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0574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EDB"/>
                </a:solidFill>
                <a:latin typeface="Calibri"/>
              </a:defRPr>
            </a:pPr>
            <a:r>
              <a:t>High Fixed Costs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3317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Massive infrastructure investment in automation creates</a:t>
            </a:r>
            <a:br/>
            <a:r>
              <a:t>huge entry barriers for potential competitors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39128" y="2514600"/>
            <a:ext cx="38100" cy="4572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83680" y="3154680"/>
            <a:ext cx="365760" cy="36576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108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EDB"/>
                </a:solidFill>
                <a:latin typeface="Calibri"/>
              </a:defRPr>
            </a:pPr>
            <a:r>
              <a:t>Low Marginal Costs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33832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Each additional container handled costs very little,</a:t>
            </a:r>
            <a:br/>
            <a:r>
              <a:t>giving 30% operational cost reduction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39128" y="3566160"/>
            <a:ext cx="38100" cy="4572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583680" y="4206240"/>
            <a:ext cx="365760" cy="36576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1605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EDB"/>
                </a:solidFill>
                <a:latin typeface="Calibri"/>
              </a:defRPr>
            </a:pPr>
            <a:r>
              <a:t>Declining Average Cost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4348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LRATC keeps falling as quantity increases,</a:t>
            </a:r>
            <a:br/>
            <a:r>
              <a:t>making one large port more efficient than several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39128" y="4617720"/>
            <a:ext cx="38100" cy="4572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83680" y="5257800"/>
            <a:ext cx="365760" cy="36576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2120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EDB"/>
                </a:solidFill>
                <a:latin typeface="Calibri"/>
              </a:defRPr>
            </a:pPr>
            <a:r>
              <a:t>Market Dominance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54864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Competitors cannot match the cost structure,</a:t>
            </a:r>
            <a:br/>
            <a:r>
              <a:t>leading to natural monopoly with pricing power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Lock-in, Switching Costs &amp; Network Effects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960120"/>
            <a:ext cx="2286000" cy="508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82880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EDB"/>
                </a:solidFill>
                <a:latin typeface="Calibri"/>
              </a:defRPr>
            </a:pPr>
            <a:r>
              <a:t>Lock-in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"Switching away from a chosen option becomes increasingly</a:t>
            </a:r>
            <a:br/>
            <a:r>
              <a:t>difficult or expensive over time."</a:t>
            </a:r>
            <a:br/>
            <a:r>
              <a:t>— Tumisang Bogwasi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5486400" cy="301752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00"/>
                </a:solidFill>
                <a:latin typeface="Calibri"/>
              </a:defRPr>
            </a:pPr>
            <a:r>
              <a:t>Why Dominant Ports Are Hard to Replace</a:t>
            </a:r>
          </a:p>
        </p:txBody>
      </p:sp>
      <p:sp>
        <p:nvSpPr>
          <p:cNvPr id="11" name="Chevron 10"/>
          <p:cNvSpPr/>
          <p:nvPr/>
        </p:nvSpPr>
        <p:spPr>
          <a:xfrm>
            <a:off x="731520" y="4114800"/>
            <a:ext cx="320040" cy="274320"/>
          </a:xfrm>
          <a:prstGeom prst="chevron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0965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Huge number of shipping lines passing through</a:t>
            </a:r>
          </a:p>
        </p:txBody>
      </p:sp>
      <p:sp>
        <p:nvSpPr>
          <p:cNvPr id="13" name="Chevron 12"/>
          <p:cNvSpPr/>
          <p:nvPr/>
        </p:nvSpPr>
        <p:spPr>
          <a:xfrm>
            <a:off x="731520" y="4572000"/>
            <a:ext cx="320040" cy="274320"/>
          </a:xfrm>
          <a:prstGeom prst="chevron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5537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Long-term terminal agreements in place</a:t>
            </a:r>
          </a:p>
        </p:txBody>
      </p:sp>
      <p:sp>
        <p:nvSpPr>
          <p:cNvPr id="15" name="Chevron 14"/>
          <p:cNvSpPr/>
          <p:nvPr/>
        </p:nvSpPr>
        <p:spPr>
          <a:xfrm>
            <a:off x="731520" y="5029200"/>
            <a:ext cx="320040" cy="274320"/>
          </a:xfrm>
          <a:prstGeom prst="chevron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010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Established relationships with labor &amp; shipping alliances</a:t>
            </a:r>
          </a:p>
        </p:txBody>
      </p:sp>
      <p:sp>
        <p:nvSpPr>
          <p:cNvPr id="17" name="Chevron 16"/>
          <p:cNvSpPr/>
          <p:nvPr/>
        </p:nvSpPr>
        <p:spPr>
          <a:xfrm>
            <a:off x="731520" y="5486400"/>
            <a:ext cx="320040" cy="274320"/>
          </a:xfrm>
          <a:prstGeom prst="chevron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4681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High cost of switching logistics infrastructure</a:t>
            </a:r>
          </a:p>
        </p:txBody>
      </p:sp>
      <p:sp>
        <p:nvSpPr>
          <p:cNvPr id="19" name="Chevron 18"/>
          <p:cNvSpPr/>
          <p:nvPr/>
        </p:nvSpPr>
        <p:spPr>
          <a:xfrm>
            <a:off x="731520" y="5943600"/>
            <a:ext cx="320040" cy="274320"/>
          </a:xfrm>
          <a:prstGeom prst="chevron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9253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Network externalities amplify dominance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371600"/>
            <a:ext cx="5486400" cy="51206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00"/>
                </a:solidFill>
                <a:latin typeface="Calibri"/>
              </a:defRPr>
            </a:pPr>
            <a:r>
              <a:t>The Matthew Effect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92024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"Those who possess advantages tend to accumulate</a:t>
            </a:r>
            <a:br/>
            <a:r>
              <a:t>even more, while those with fewer resources fall</a:t>
            </a:r>
            <a:br/>
            <a:r>
              <a:t>further behind."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Widening Gap Between 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3749039"/>
            <a:ext cx="2194560" cy="256032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0" y="3749039"/>
            <a:ext cx="2194560" cy="5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840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Automated 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+ More resources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709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+ Stronger alliances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120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+ Higher efficiency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532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+ Pricing power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0" y="3749039"/>
            <a:ext cx="2194560" cy="256032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0" y="3749039"/>
            <a:ext cx="2194560" cy="508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3840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E3E"/>
                </a:solidFill>
                <a:latin typeface="Calibri"/>
              </a:defRPr>
            </a:pPr>
            <a:r>
              <a:t>Traditional 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- Fewer resources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709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- Losing alliances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5120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- Lower efficiency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5532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- Price takers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Negative Externalities of Port Automation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960120"/>
            <a:ext cx="2286000" cy="508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0E0E0"/>
                </a:solidFill>
                <a:latin typeface="Calibri"/>
              </a:defRPr>
            </a:pPr>
            <a:r>
              <a:t>With little competitive pressure, operators may undermine the importance</a:t>
            </a:r>
            <a:br/>
            <a:r>
              <a:t>of safeguards and security, neglecting the socially optimal level of output</a:t>
            </a:r>
            <a:br/>
            <a:r>
              <a:t>in pursuit of profit. Extra costs are borne by other stakeholders.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3566160" cy="320040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3566160" cy="635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53E3E"/>
                </a:solidFill>
                <a:latin typeface="Calibri"/>
              </a:defRPr>
            </a:pPr>
            <a:r>
              <a:t>Cyber Risk Externality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When ports face cyberattacks,</a:t>
            </a:r>
            <a:br/>
            <a:r>
              <a:t>governments bear the cost of</a:t>
            </a:r>
            <a:br/>
            <a:r>
              <a:t>reducing systemic risks and</a:t>
            </a:r>
            <a:br/>
            <a:r>
              <a:t>mitigating impact on trade.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017520"/>
            <a:ext cx="3566160" cy="320040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3017520"/>
            <a:ext cx="3566160" cy="635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Calibri"/>
              </a:defRPr>
            </a:pPr>
            <a:r>
              <a:t>Labor Displacement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8404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Displaced workers suffer from</a:t>
            </a:r>
            <a:br/>
            <a:r>
              <a:t>severe structural unemployment.</a:t>
            </a:r>
            <a:br/>
            <a:r>
              <a:t>Social costs are externalized to</a:t>
            </a:r>
            <a:br/>
            <a:r>
              <a:t>workers and welfare systems.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017520"/>
            <a:ext cx="3566160" cy="320040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3017520"/>
            <a:ext cx="3566160" cy="635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00"/>
                </a:solidFill>
                <a:latin typeface="Calibri"/>
              </a:defRPr>
            </a:pPr>
            <a:r>
              <a:t>Welfare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8404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MPC shifts to MSC due to</a:t>
            </a:r>
            <a:br/>
            <a:r>
              <a:t>negative externalities. Deadweight</a:t>
            </a:r>
            <a:br/>
            <a:r>
              <a:t>loss (area E2E1H) represents</a:t>
            </a:r>
            <a:br/>
            <a:r>
              <a:t>net welfare loss to society.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212079"/>
            <a:ext cx="11247120" cy="9144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349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Key Insight: The socially optimal output (Qm) is lower than the market equilibrium. The gap between MPC and MSC reflects the true social cost of concentrated port automation.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Case Study: Tuas Mega 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960120"/>
            <a:ext cx="2286000" cy="508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1031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00"/>
                </a:solidFill>
                <a:latin typeface="Calibri"/>
              </a:defRPr>
            </a:pPr>
            <a:r>
              <a:t>Key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a. Tuas' large sunk cost keeps LRATC falling → near-natural monopoly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b. No regional rival can match Tuas' automation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c. Global container demand stays relatively stable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86400" cy="210312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EDB"/>
                </a:solidFill>
                <a:latin typeface="Calibri"/>
              </a:defRPr>
            </a:pPr>
            <a:r>
              <a:t>Hub Port vs Gateway 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Unlike gateway ports (Yangshan, Qingdao) that primarily</a:t>
            </a:r>
            <a:br/>
            <a:r>
              <a:t>receive cargo, Tuas functions as a hub port for trans-</a:t>
            </a:r>
            <a:br/>
            <a:r>
              <a:t>shipments in global supply chains. Shipping alliances</a:t>
            </a:r>
            <a:br/>
            <a:r>
              <a:t>enjoy greater flexibility in hub port selection.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49039"/>
            <a:ext cx="11247120" cy="283464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00"/>
                </a:solidFill>
                <a:latin typeface="Calibri"/>
              </a:defRPr>
            </a:pPr>
            <a:r>
              <a:t>Tuas Mega Port Specifications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DB"/>
                </a:solidFill>
                <a:latin typeface="Calibri"/>
              </a:defRPr>
            </a:pPr>
            <a:r>
              <a:t>Commissioning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389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September 1, 2022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DB"/>
                </a:solidFill>
                <a:latin typeface="Calibri"/>
              </a:defRPr>
            </a:pPr>
            <a:r>
              <a:t>Full Completion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892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2040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94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DB"/>
                </a:solidFill>
                <a:latin typeface="Calibri"/>
              </a:defRPr>
            </a:pPr>
            <a:r>
              <a:t>Total Area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394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~1,337 hectares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97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DB"/>
                </a:solidFill>
                <a:latin typeface="Calibri"/>
              </a:defRPr>
            </a:pPr>
            <a:r>
              <a:t>Berths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897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66 berths spanning 26 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389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DB"/>
                </a:solidFill>
                <a:latin typeface="Calibri"/>
              </a:defRPr>
            </a:pPr>
            <a:r>
              <a:t>Target Capacity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389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65 million+ TEUs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DB"/>
                </a:solidFill>
                <a:latin typeface="Calibri"/>
              </a:defRPr>
            </a:pPr>
            <a:r>
              <a:t>Automation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892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Fully automated cranes, AGVs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394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DB"/>
                </a:solidFill>
                <a:latin typeface="Calibri"/>
              </a:defRPr>
            </a:pPr>
            <a:r>
              <a:t>Consolidation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394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Absorbing Pasir Panjang, Tanjong Pagar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897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DB"/>
                </a:solidFill>
                <a:latin typeface="Calibri"/>
              </a:defRPr>
            </a:pPr>
            <a:r>
              <a:t>Position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897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World's 2nd largest container 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Operational Performance: Before &amp; After Tuas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960120"/>
            <a:ext cx="2286000" cy="508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635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  <a:latin typeface="Calibri"/>
              </a:defRPr>
            </a:pPr>
            <a:r>
              <a:t>Pre-Tuas Period (2015-2022)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0E0"/>
                </a:solidFill>
                <a:latin typeface="Calibri"/>
              </a:defRPr>
            </a:pPr>
            <a:r>
              <a:t>Avg Annual Throughput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~35.2 million TEUs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0E0"/>
                </a:solidFill>
                <a:latin typeface="Calibri"/>
              </a:defRPr>
            </a:pPr>
            <a:r>
              <a:t>Growth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~2.7% per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0E0"/>
                </a:solidFill>
                <a:latin typeface="Calibri"/>
              </a:defRPr>
            </a:pPr>
            <a:r>
              <a:t>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30.9M (2015) → 37.3M (2022)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5486400" cy="6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Calibri"/>
              </a:defRPr>
            </a:pPr>
            <a:r>
              <a:t>Post-Tuas Period (2022-2025)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0E0"/>
                </a:solidFill>
                <a:latin typeface="Calibri"/>
              </a:defRPr>
            </a:pPr>
            <a:r>
              <a:t>Avg Annual Throughput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103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~41.9 million TEUs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0E0"/>
                </a:solidFill>
                <a:latin typeface="Calibri"/>
              </a:defRPr>
            </a:pPr>
            <a:r>
              <a:t>Growth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~6.2% per year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E0E0"/>
                </a:solidFill>
                <a:latin typeface="Calibri"/>
              </a:defRPr>
            </a:pPr>
            <a:r>
              <a:t>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37.3M (2022) → 44.7M (2025)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00"/>
                </a:solidFill>
                <a:latin typeface="Calibri"/>
              </a:defRPr>
            </a:pPr>
            <a:r>
              <a:t>Throughput Growth Visualization (million TEUs)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663897"/>
            <a:ext cx="731520" cy="155402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236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2015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46272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30.9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74520" y="4643780"/>
            <a:ext cx="731520" cy="1574139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83080" y="6236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2016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444261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31.3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4523079"/>
            <a:ext cx="731520" cy="169484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6236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2017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321911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33.7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94760" y="4377232"/>
            <a:ext cx="731520" cy="1840687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03320" y="6236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2018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41760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36.6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54880" y="4347057"/>
            <a:ext cx="731520" cy="1870862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6236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2019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14588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37.2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5000" y="4362145"/>
            <a:ext cx="731520" cy="1855774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60" y="6236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2020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416097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36.9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4331970"/>
            <a:ext cx="731520" cy="188595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6236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2021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13080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37.5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35240" y="4342028"/>
            <a:ext cx="731520" cy="1875891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3800" y="6236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2022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43800" y="41408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37.3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595360" y="4256532"/>
            <a:ext cx="731520" cy="196138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0" y="6236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2023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4055364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39.0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555480" y="4105656"/>
            <a:ext cx="731520" cy="21122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64040" y="6236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64040" y="39044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42.0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515600" y="3969867"/>
            <a:ext cx="731520" cy="2248052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24160" y="6236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0E0E0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24160" y="376869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44.7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Systemic Risks of Tuas'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960120"/>
            <a:ext cx="2286000" cy="508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EDB"/>
                </a:solidFill>
                <a:latin typeface="Calibri"/>
              </a:defRPr>
            </a:pPr>
            <a:r>
              <a:t>Vessel Turnaround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Average turnaround improved from 33.6 hours (2015) to ~12</a:t>
            </a:r>
            <a:br/>
            <a:r>
              <a:t>hours (2025). However, most significant gains occurred by</a:t>
            </a:r>
            <a:br/>
            <a:r>
              <a:t>2018, BEFORE Tuas. Tuas' scale expansion instead led to</a:t>
            </a:r>
            <a:br/>
            <a:r>
              <a:t>capacity overflow and congestion events.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635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53E3E"/>
                </a:solidFill>
                <a:latin typeface="Calibri"/>
              </a:defRPr>
            </a:pPr>
            <a:r>
              <a:t>Congestion Crisis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00"/>
                </a:solidFill>
                <a:latin typeface="Calibri"/>
              </a:defRPr>
            </a:pPr>
            <a:r>
              <a:t>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1031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Digital disruption forced ~60% of vessels</a:t>
            </a:r>
            <a:br/>
            <a:r>
              <a:t>to anchor; wait times exceeded 1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803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700"/>
                </a:solidFill>
                <a:latin typeface="Calibri"/>
              </a:defRPr>
            </a:pPr>
            <a:r>
              <a:t>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8803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Excess container discharge led to 7-day</a:t>
            </a:r>
            <a:br/>
            <a:r>
              <a:t>waits; ~450,000 TEUs stuck at berth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00"/>
                </a:solidFill>
                <a:latin typeface="Calibri"/>
              </a:defRPr>
            </a:pPr>
            <a:r>
              <a:t>Structural Unemployment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Tuas is equipped with automated cranes and driverless</a:t>
            </a:r>
            <a:br/>
            <a:r>
              <a:t>AGVs. Humans now monitor operations from control centers</a:t>
            </a:r>
            <a:br/>
            <a:r>
              <a:t>rather than performing skill-based work, spurring job</a:t>
            </a:r>
            <a:br/>
            <a:r>
              <a:t>losses in traditional port positions.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Traditional Crane Operators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480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3E3E"/>
                </a:solidFill>
                <a:latin typeface="Calibri"/>
              </a:defRPr>
            </a:pPr>
            <a:r>
              <a:t>Replaced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Manual Cargo Handlers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3E3E"/>
                </a:solidFill>
                <a:latin typeface="Calibri"/>
              </a:defRPr>
            </a:pPr>
            <a:r>
              <a:t>Replaced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577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Vehicle / Truck Drivers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577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3E3E"/>
                </a:solidFill>
                <a:latin typeface="Calibri"/>
              </a:defRPr>
            </a:pPr>
            <a:r>
              <a:t>Replaced by AGVs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Control Center Monitors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4480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New 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5029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IT / System Engineers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New Role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5577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Data Analysts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5577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AF50"/>
                </a:solidFill>
                <a:latin typeface="Calibri"/>
              </a:defRPr>
            </a:pPr>
            <a:r>
              <a:t>New Role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Proposal 1: Labor Transition &amp; Profit-Sharing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960120"/>
            <a:ext cx="2286000" cy="508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566160" cy="411480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566160" cy="635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EDB"/>
                </a:solidFill>
                <a:latin typeface="Calibri"/>
              </a:defRPr>
            </a:pPr>
            <a:r>
              <a:t>Phase 1: Skills &amp; Partnerships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• Identify skill gaps in workforce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• Partner with local vocational colleges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• Free training in: AI scheduling, data</a:t>
            </a:r>
            <a:br/>
            <a:r>
              <a:t>  recording, equipment maintenance,</a:t>
            </a:r>
            <a:br/>
            <a:r>
              <a:t>  in-time debugging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• Skill certificates recognized by</a:t>
            </a:r>
            <a:br/>
            <a:r>
              <a:t>  other 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• Guaranteed job offer upon completion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• 10-15% salary increase for trainees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71600"/>
            <a:ext cx="3566160" cy="411480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566160" cy="635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B700"/>
                </a:solidFill>
                <a:latin typeface="Calibri"/>
              </a:defRPr>
            </a:pPr>
            <a:r>
              <a:t>Phase 2: Smooth Transitions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1031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• Priority internal transfers:</a:t>
            </a:r>
            <a:br/>
            <a:r>
              <a:t>  automated roles first offered</a:t>
            </a:r>
            <a:br/>
            <a:r>
              <a:t>  to existing workers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788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• No external competition for</a:t>
            </a:r>
            <a:br/>
            <a:r>
              <a:t>  initial placement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474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• 6-month transition period with</a:t>
            </a:r>
            <a:br/>
            <a:r>
              <a:t>  original salary guaranteed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1605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• Even if new role pays less</a:t>
            </a:r>
            <a:br/>
            <a:r>
              <a:t>  initially, salary protected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371600"/>
            <a:ext cx="3566160" cy="411480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371600"/>
            <a:ext cx="3566160" cy="6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554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CAF50"/>
                </a:solidFill>
                <a:latin typeface="Calibri"/>
              </a:defRPr>
            </a:pPr>
            <a:r>
              <a:t>Phase 3: Profit &amp; Motivation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103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20% of total revenue allocated: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• 5% for savings (partnerships)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200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  • 15% for worker bonuses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7490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Higher skill = bigger bonus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2976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Workers motivated to upskill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8463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Creates long-term retention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669280"/>
            <a:ext cx="11247120" cy="9144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7607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Reciprocity: Colleges gain access to advanced devices &amp; field practice  |  Ports enjoy education resources  |  Workers gain transferable skills &amp; job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Evaluation: Institutional Proposal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960120"/>
            <a:ext cx="2286000" cy="508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7772400" cy="475488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772400" cy="6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AF50"/>
                </a:solidFill>
                <a:latin typeface="Calibri"/>
              </a:defRPr>
            </a:pPr>
            <a:r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DB"/>
                </a:solidFill>
                <a:latin typeface="Calibri"/>
              </a:defRPr>
            </a:pPr>
            <a:r>
              <a:t>Less Unemployment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031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No sudden job loss for internal workers;</a:t>
            </a:r>
            <a:br/>
            <a:r>
              <a:t>guaranteed placement + better pay through bonuses;</a:t>
            </a:r>
            <a:br/>
            <a:r>
              <a:t>transferable skills for any automated 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DB"/>
                </a:solidFill>
                <a:latin typeface="Calibri"/>
              </a:defRPr>
            </a:pPr>
            <a:r>
              <a:t>Minimized Market Power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0632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Skilled workers across all ports reduce the</a:t>
            </a:r>
            <a:br/>
            <a:r>
              <a:t>Matthew and Siphon effects; every port gains</a:t>
            </a:r>
            <a:br/>
            <a:r>
              <a:t>capability, not just the dominant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DB"/>
                </a:solidFill>
                <a:latin typeface="Calibri"/>
              </a:defRPr>
            </a:pPr>
            <a:r>
              <a:t>Competitive Supply 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0233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Diminished market power → competition →</a:t>
            </a:r>
            <a:br/>
            <a:r>
              <a:t>more affordable pricing, abundant &amp; stable</a:t>
            </a:r>
            <a:br/>
            <a:r>
              <a:t>supply, and higher quality goods.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DB"/>
                </a:solidFill>
                <a:latin typeface="Calibri"/>
              </a:defRPr>
            </a:pPr>
            <a:r>
              <a:t>Mutual Benefit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9834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Colleges: advanced devices &amp; field practice.</a:t>
            </a:r>
            <a:br/>
            <a:r>
              <a:t>Ports: education resources.</a:t>
            </a:r>
            <a:br/>
            <a:r>
              <a:t>Workers: better knowledge &amp; security.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1371600"/>
            <a:ext cx="3200400" cy="475488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03920" y="1371600"/>
            <a:ext cx="3200400" cy="635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53E3E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10312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Increases short-term</a:t>
            </a:r>
            <a:br/>
            <a:r>
              <a:t>operational costs:</a:t>
            </a:r>
            <a:br/>
            <a:br/>
            <a:r>
              <a:t>• Training investment</a:t>
            </a:r>
            <a:br/>
            <a:r>
              <a:t>• Career coaching</a:t>
            </a:r>
            <a:br/>
            <a:r>
              <a:t>• Role restructuring</a:t>
            </a:r>
            <a:br/>
            <a:br/>
            <a:r>
              <a:t>However, long-run benefits</a:t>
            </a:r>
            <a:br/>
            <a:r>
              <a:t>outweigh short-term costs,</a:t>
            </a:r>
            <a:br/>
            <a:r>
              <a:t>making the proposal</a:t>
            </a:r>
            <a:br/>
            <a:r>
              <a:t>mostly advantageous.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Proposal 2: Re-Balancing via Sub-Ports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960120"/>
            <a:ext cx="2286000" cy="508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Calibri"/>
              </a:defRPr>
            </a:pPr>
            <a:r>
              <a:t>Organize main-ports and sub-ports to relieve shipping concentration and vulnerability</a:t>
            </a:r>
            <a:br/>
            <a:r>
              <a:t>while preserving the natural monopoly's efficiency advantages.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5486400" cy="429768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00"/>
                </a:solidFill>
                <a:latin typeface="Calibri"/>
              </a:defRPr>
            </a:pPr>
            <a:r>
              <a:t>Hub &amp; Sub-Port Model</a:t>
            </a:r>
          </a:p>
        </p:txBody>
      </p:sp>
      <p:sp>
        <p:nvSpPr>
          <p:cNvPr id="9" name="Oval 8"/>
          <p:cNvSpPr/>
          <p:nvPr/>
        </p:nvSpPr>
        <p:spPr>
          <a:xfrm>
            <a:off x="2286000" y="3474720"/>
            <a:ext cx="1828800" cy="137160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TUAS</a:t>
            </a:r>
            <a:br/>
            <a:r>
              <a:t>MEGA PORT</a:t>
            </a:r>
            <a:br/>
            <a:r>
              <a:t>(Main Hub)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926080"/>
            <a:ext cx="1097280" cy="822960"/>
          </a:xfrm>
          <a:prstGeom prst="ellipse">
            <a:avLst/>
          </a:prstGeom>
          <a:solidFill>
            <a:srgbClr val="1A3C6E"/>
          </a:solidFill>
          <a:ln w="1905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FC3F7"/>
                </a:solidFill>
              </a:defRPr>
            </a:pPr>
            <a:r>
              <a:t>Pasir</a:t>
            </a:r>
            <a:br/>
            <a:r>
              <a:t>Panjang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0" y="2743200"/>
            <a:ext cx="1097280" cy="822960"/>
          </a:xfrm>
          <a:prstGeom prst="ellipse">
            <a:avLst/>
          </a:prstGeom>
          <a:solidFill>
            <a:srgbClr val="1A3C6E"/>
          </a:solidFill>
          <a:ln w="1905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FC3F7"/>
                </a:solidFill>
              </a:defRPr>
            </a:pPr>
            <a:r>
              <a:t>Sub-Port</a:t>
            </a:r>
            <a:br/>
            <a:r>
              <a:t>B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5029200"/>
            <a:ext cx="1097280" cy="822960"/>
          </a:xfrm>
          <a:prstGeom prst="ellipse">
            <a:avLst/>
          </a:prstGeom>
          <a:solidFill>
            <a:srgbClr val="1A3C6E"/>
          </a:solidFill>
          <a:ln w="1905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FC3F7"/>
                </a:solidFill>
              </a:defRPr>
            </a:pPr>
            <a:r>
              <a:t>Sub-Port</a:t>
            </a:r>
            <a:br/>
            <a: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0" y="5212080"/>
            <a:ext cx="1097280" cy="822960"/>
          </a:xfrm>
          <a:prstGeom prst="ellipse">
            <a:avLst/>
          </a:prstGeom>
          <a:solidFill>
            <a:srgbClr val="1A3C6E"/>
          </a:solidFill>
          <a:ln w="19050">
            <a:solidFill>
              <a:srgbClr val="009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FC3F7"/>
                </a:solidFill>
              </a:defRPr>
            </a:pPr>
            <a:r>
              <a:t>Sub-Port</a:t>
            </a:r>
            <a:br/>
            <a:r>
              <a:t>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286000"/>
            <a:ext cx="5486400" cy="429768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00"/>
                </a:solidFill>
                <a:latin typeface="Calibri"/>
              </a:defRPr>
            </a:pPr>
            <a:r>
              <a:t>Implementation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34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DB"/>
                </a:solidFill>
                <a:latin typeface="Calibri"/>
              </a:defRPr>
            </a:pPr>
            <a:r>
              <a:t>Government Subsidies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1089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Provide funding for sub-port infrastructure.</a:t>
            </a:r>
            <a:br/>
            <a:r>
              <a:t>Singapore's 0.9% budget surplus (2025) and</a:t>
            </a:r>
            <a:br/>
            <a:r>
              <a:t>$857B GDP demonstrate fiscal capacity.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7490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DB"/>
                </a:solidFill>
                <a:latin typeface="Calibri"/>
              </a:defRPr>
            </a:pPr>
            <a:r>
              <a:t>Retain Pasir Panjang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0233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Instead of phasing out when Tuas reaches</a:t>
            </a:r>
            <a:br/>
            <a:r>
              <a:t>full capacity, keep as active sub-port to</a:t>
            </a:r>
            <a:br/>
            <a:r>
              <a:t>maintain distributed shipping capacity.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663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DB"/>
                </a:solidFill>
                <a:latin typeface="Calibri"/>
              </a:defRPr>
            </a:pPr>
            <a:r>
              <a:t>PSA Coordination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9377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Both Tuas and sub-ports operated under PSA,</a:t>
            </a:r>
            <a:br/>
            <a:r>
              <a:t>enabling centralized but distributed management</a:t>
            </a:r>
            <a:br/>
            <a:r>
              <a:t>of Singapore's port ecosystem.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577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DB"/>
                </a:solidFill>
                <a:latin typeface="Calibri"/>
              </a:defRPr>
            </a:pPr>
            <a:r>
              <a:t>Traffic Distribution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8521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Redistribute shipping lines across sub-ports to</a:t>
            </a:r>
            <a:br/>
            <a:r>
              <a:t>reduce single-point-of-failure risk and alleviate</a:t>
            </a:r>
            <a:br/>
            <a:r>
              <a:t>congestion at the main hub.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Evaluation: National Proposal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960120"/>
            <a:ext cx="2286000" cy="508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7772400" cy="502920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772400" cy="6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AF50"/>
                </a:solidFill>
                <a:latin typeface="Calibri"/>
              </a:defRPr>
            </a:pPr>
            <a:r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DB"/>
                </a:solidFill>
                <a:latin typeface="Calibri"/>
              </a:defRPr>
            </a:pPr>
            <a:r>
              <a:t>Positive Feedback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031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Government investment → infrastructure &amp; jobs at sub-ports</a:t>
            </a:r>
            <a:br/>
            <a:r>
              <a:t>→ improved logistics → more competitive industries</a:t>
            </a:r>
            <a:br/>
            <a:r>
              <a:t>→ increased trade &amp; tax revenue → further investment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DB"/>
                </a:solidFill>
                <a:latin typeface="Calibri"/>
              </a:defRPr>
            </a:pPr>
            <a:r>
              <a:t>Creates Competition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1546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Scattered port distribution creates genuine competition,</a:t>
            </a:r>
            <a:br/>
            <a:r>
              <a:t>incentivizing Tuas to keep improving technology</a:t>
            </a:r>
            <a:br/>
            <a:r>
              <a:t>while providing alternatives during disruptions.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DB"/>
                </a:solidFill>
                <a:latin typeface="Calibri"/>
              </a:defRPr>
            </a:pPr>
            <a:r>
              <a:t>Relieves Unemployment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2062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Combined with institutional proposal, workers can</a:t>
            </a:r>
            <a:br/>
            <a:r>
              <a:t>transition to not-yet-fully-automated sub-ports,</a:t>
            </a:r>
            <a:br/>
            <a:r>
              <a:t>mitigating displacement from automation.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EDB"/>
                </a:solidFill>
                <a:latin typeface="Calibri"/>
              </a:defRPr>
            </a:pPr>
            <a:r>
              <a:t>Supply Chain Resilience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2578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Multiple operational ports reduce the risk of</a:t>
            </a:r>
            <a:br/>
            <a:r>
              <a:t>supply chain breakdown when technical problems</a:t>
            </a:r>
            <a:br/>
            <a:r>
              <a:t>affect a single hub.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1371600"/>
            <a:ext cx="3200400" cy="502920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03920" y="1371600"/>
            <a:ext cx="3200400" cy="6350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53E3E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10312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Resource Allocation</a:t>
            </a:r>
            <a:br/>
            <a:r>
              <a:t>Inefficiency:</a:t>
            </a:r>
            <a:br/>
            <a:br/>
            <a:r>
              <a:t>Tuas as natural monopolist</a:t>
            </a:r>
            <a:br/>
            <a:r>
              <a:t>has extremely low marginal</a:t>
            </a:r>
            <a:br/>
            <a:r>
              <a:t>cost per unit of service.</a:t>
            </a:r>
            <a:br/>
            <a:br/>
            <a:r>
              <a:t>Adding sub-ports reduces</a:t>
            </a:r>
            <a:br/>
            <a:r>
              <a:t>Tuas throughput, under-</a:t>
            </a:r>
            <a:br/>
            <a:r>
              <a:t>utilizing its cost advantage.</a:t>
            </a:r>
            <a:br/>
            <a:br/>
            <a:r>
              <a:t>Sub-ports operate at</a:t>
            </a:r>
            <a:br/>
            <a:r>
              <a:t>higher costs, making the</a:t>
            </a:r>
            <a:br/>
            <a:r>
              <a:t>overall allocation</a:t>
            </a:r>
            <a:br/>
            <a:r>
              <a:t>comparatively less efficient.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365760"/>
            <a:ext cx="640080" cy="640080"/>
          </a:xfrm>
          <a:prstGeom prst="ellipse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Critical Review: Assumptions &amp; Trade-offs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960120"/>
            <a:ext cx="2286000" cy="508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256032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00"/>
                </a:solidFill>
                <a:latin typeface="Calibri"/>
              </a:defRPr>
            </a:pPr>
            <a:r>
              <a:t>Key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1. Automated ports work well enough to achieve market power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2. Labor faces structural unemployment without ability</a:t>
            </a:r>
            <a:br/>
            <a:r>
              <a:t>to improve skills or cooperate with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3. Government is willing to coordinate ports and</a:t>
            </a:r>
            <a:br/>
            <a:r>
              <a:t>shipping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4. Government is willing and able to fund interventions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486400" cy="25603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00"/>
                </a:solidFill>
                <a:latin typeface="Calibri"/>
              </a:defRPr>
            </a:pPr>
            <a:r>
              <a:t>Key Trade-offs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DB"/>
                </a:solidFill>
                <a:latin typeface="Calibri"/>
              </a:defRPr>
            </a:pPr>
            <a:r>
              <a:t>Efficiency vs. Resilience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011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Automation boosts capacity but creates</a:t>
            </a:r>
            <a:br/>
            <a:r>
              <a:t>single-point vulnerabilities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DB"/>
                </a:solidFill>
                <a:latin typeface="Calibri"/>
              </a:defRPr>
            </a:pPr>
            <a:r>
              <a:t>Cost Savings vs. Employment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606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Lower operational costs come at the</a:t>
            </a:r>
            <a:br/>
            <a:r>
              <a:t>price of structural job losses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00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EDB"/>
                </a:solidFill>
                <a:latin typeface="Calibri"/>
              </a:defRPr>
            </a:pPr>
            <a:r>
              <a:t>Monopoly vs. Competition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2004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  <a:latin typeface="Calibri"/>
              </a:defRPr>
            </a:pPr>
            <a:r>
              <a:t>Natural monopoly is efficient but</a:t>
            </a:r>
            <a:br/>
            <a:r>
              <a:t>reduces market competition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B700"/>
                </a:solidFill>
                <a:latin typeface="Calibri"/>
              </a:defRPr>
            </a:pPr>
            <a:r>
              <a:t>Balancing the Trade-offs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54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EDB"/>
                </a:solidFill>
                <a:latin typeface="Calibri"/>
              </a:defRPr>
            </a:pPr>
            <a:r>
              <a:t>Institutional Level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206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Training + profit-sharing mitigates unemployment</a:t>
            </a:r>
            <a:br/>
            <a:r>
              <a:t>while building workforce capacity across all 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754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EDB"/>
                </a:solidFill>
                <a:latin typeface="Calibri"/>
              </a:defRPr>
            </a:pPr>
            <a:r>
              <a:t>National Level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51206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Sub-port organization preserves natural monopoly</a:t>
            </a:r>
            <a:br/>
            <a:r>
              <a:t>efficiency while distributing systemic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8" y="47548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EDB"/>
                </a:solidFill>
                <a:latin typeface="Calibri"/>
              </a:defRPr>
            </a:pPr>
            <a:r>
              <a:t>Combined Effect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8" y="51206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  <a:latin typeface="Calibri"/>
              </a:defRPr>
            </a:pPr>
            <a:r>
              <a:t>Short-term costs are insignificant compared to</a:t>
            </a:r>
            <a:br/>
            <a:r>
              <a:t>long-term stability, competition, and resilience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09728" cy="41148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2743200" cy="508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0E0E0"/>
                </a:solidFill>
                <a:latin typeface="Calibri"/>
              </a:defRPr>
            </a:pPr>
            <a:r>
              <a:t>The solutions proposed — training workers for new roles, supporting job transitions,</a:t>
            </a:r>
            <a:br/>
            <a:r>
              <a:t>and spreading port operations across smaller sites — can balance the trade-offs</a:t>
            </a:r>
            <a:br/>
            <a:r>
              <a:t>between automation efficiency and its negative consequences.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3474720" cy="201168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474720"/>
            <a:ext cx="3474720" cy="63500"/>
          </a:xfrm>
          <a:prstGeom prst="rect">
            <a:avLst/>
          </a:prstGeom>
          <a:solidFill>
            <a:srgbClr val="009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EDB"/>
                </a:solidFill>
                <a:latin typeface="Calibri"/>
              </a:defRPr>
            </a:pPr>
            <a:r>
              <a:t>Competitive 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Keep Singapore's ports</a:t>
            </a:r>
            <a:br/>
            <a:r>
              <a:t>globally competitive through</a:t>
            </a:r>
            <a:br/>
            <a:r>
              <a:t>automation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3474720"/>
            <a:ext cx="3474720" cy="201168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3474720"/>
            <a:ext cx="3474720" cy="6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39" y="3657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Calibri"/>
              </a:defRPr>
            </a:pPr>
            <a:r>
              <a:t>Protected Workers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41148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Shield workers from displacement</a:t>
            </a:r>
            <a:br/>
            <a:r>
              <a:t>through training, profit-sharing,</a:t>
            </a:r>
            <a:br/>
            <a:r>
              <a:t>and smooth transitions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8" y="3474720"/>
            <a:ext cx="3474720" cy="2011680"/>
          </a:xfrm>
          <a:prstGeom prst="roundRect">
            <a:avLst/>
          </a:prstGeom>
          <a:solidFill>
            <a:srgbClr val="122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8" y="3474720"/>
            <a:ext cx="3474720" cy="63500"/>
          </a:xfrm>
          <a:prstGeom prst="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8" y="3657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700"/>
                </a:solidFill>
                <a:latin typeface="Calibri"/>
              </a:defRPr>
            </a:pPr>
            <a:r>
              <a:t>Stable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8" y="41148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0E0E0"/>
                </a:solidFill>
                <a:latin typeface="Calibri"/>
              </a:defRPr>
            </a:pPr>
            <a:r>
              <a:t>Make the maritime system</a:t>
            </a:r>
            <a:br/>
            <a:r>
              <a:t>more resilient through</a:t>
            </a:r>
            <a:br/>
            <a:r>
              <a:t>distributed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By following these proposals, Singapore can maintain port competitiveness while</a:t>
            </a:r>
            <a:br/>
            <a:r>
              <a:t>protecting workers and ensuring long-term maritime system stability.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0E0E0"/>
                </a:solidFill>
                <a:latin typeface="Calibr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